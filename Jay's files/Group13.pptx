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21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hypothesis in one breath: the US curve is ~3 factors, and we trade the small orthogonal residual that mean-reverts. This deck is an honest research ladder — each refinement is forced by the previous result, and the test set is touched once at the very end. ~15 minutes.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at the std row: daily changes ~6.5–9 bp, mean ≈ 0, fat tails — mean-reverting moves around a near-zero drift. Stress the held-out discipline: the 2,532-day test block is sealed until slide 12. Hand-off: what are the three factors, and what's left over?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PCA = orthogonal directions of max variance. Walk the loading shapes: flat = level, monotone = slope, hump = curvature. EVR &gt; 90% justifies a rank-3 factor model. The residual is the part the 3 factors don't explain; cumulating it gives the tradable signal. Hand-off: how the residual becomes a trade.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A (resets each block, cleaner) with B (continuous rolling-K). The z-score is the decision variable: enter when |s| is large, unwind as it reverts. Emphasize causality (trailing windows only) and the +1-day lag. The knob list previews every later refinement. Hand-off: start with the simplest possible book.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Motivate M1 first (parsimony, one degree of freedom): gross IR ≈ 0.50, proof the residual reverts. M2 = hard-neutral min-variance; M3 = soft mean-variance tilt. Read the IR jump to 1.32 (M3/lw). Call out the M2-all null (IR ≈ 0): over-constraining kills the tilt. γ = 3171.159, neutrality ~1e-13. Hand-off: gross looks great — charge it costs.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Pivotal slide: gross IR 1.3 → flat-net −2.11. Capital-invariance kills the 'trade smaller' reflex. Short-end mechanics: tiny DV01 ⇒ many contracts ⇒ a flat ticket over-charges bills (78% of cost). It's a cost-model artifact. Hand-off: fix the cost model.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RV book otherwise rebalances daily (every tenor moves to hedge 3 factors). The band: hold, and only trade when risk-space (Mahalanobis) drift exceeds τ, then trade to the edge and freeze integer contracts. Read the sweep: turnover/cost drag fall, gross erodes slowly. GO; M2 τ=0.75 recommended (net 0.403, +50% 0.096, ex-proxy 0.615). M3 stays net-positive but its gross erodes &gt;20% (fails band-health). Hand-off: two orthogonal refinements remain.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3 instruments and 3 factors the only exactly-neutral book is zero — so neutrality becomes a soft penalty λ (the dual of a 2-norm leakage ball; an optional cvxpy QP reproduces the closed form to ~1e-11). γ_D(train)=1437.1; λ*/γ_D = {M2:100, M3:0}. M3 net IR exact-6 −0.122 → trade-3 −0.013 (turnover 0.0035→0.0027); leakage ≈ 0.318. Both still net-negative bandless — the band is the load-bearing fix. Hand-off: dodge bad regimes.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Motivate regime conditioning: dispersion is the friend, systematic risk the foe. Adaptive band (252d mean + k·σ vs EWMA-21) beats a static threshold for the slow-mean-reverting MOVE. VAL k=1 best (MDD 0.20→0.14). Then the honest OOS reversal on the single test touch (−0.110 → −0.501). Hand-off: stress the signal itself.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Lead-lag peak at +1 is causal; be candid it doesn't fully decay by 30 days (tracked caveat). Jackknife: M2/lw IR_all 0.550, dropping 6M costs ΔIR 0.76 (single-tenor-dependent); the imperfect trade-3 winner is NOT. Bootstrap: val mean inside the train band; z-window stabilizes by 126. Hand-off: tune honestly and touch the test once.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Optuna vs a coarse grid; leakage guards (train+val only, cached). One config per method, a single test touch. Gross generalizes (test IR 0.47–0.51, bolded), but net is thin/negative under dv01_bp (M3 −0.31, M2 −0.45, M1 −0.25). Hand-off: the lessons.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Synthesize the ladder: real gross alpha → costs are the battleground → model them honestly → trade less → more constraints aren't better → in-sample ≠ out-of-sample. Be explicit about the futures/carry/CTD gaps. End on the execution-cost framing.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881360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800" b="1" i="0" dirty="0">
                <a:solidFill>
                  <a:srgbClr val="00A38E"/>
                </a:solidFill>
                <a:latin typeface="Calibri"/>
              </a:rPr>
              <a:t>US Treasury PCA Relative-Value</a:t>
            </a:r>
          </a:p>
          <a:p>
            <a:r>
              <a:rPr lang="en-US" sz="3800" b="1" i="0" dirty="0">
                <a:solidFill>
                  <a:srgbClr val="00A38E"/>
                </a:solidFill>
                <a:latin typeface="Calibri"/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>
                <a:solidFill>
                  <a:srgbClr val="33B8A6"/>
                </a:solidFill>
                <a:latin typeface="Calibri"/>
              </a:rPr>
              <a:t>A systematic macro strategy: research, results &amp; honest critique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>
                <a:solidFill>
                  <a:srgbClr val="FFFFFF"/>
                </a:solidFill>
                <a:latin typeface="Calibri"/>
              </a:rPr>
              <a:t>AQMS 2026  · 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Group 13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064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>
                <a:solidFill>
                  <a:srgbClr val="FFFFFF"/>
                </a:solidFill>
                <a:latin typeface="Calibri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33B8A6"/>
                </a:solidFill>
                <a:latin typeface="Calibri"/>
              </a:rPr>
              <a:t>2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02147"/>
                </a:solidFill>
                <a:latin typeface="Calibri"/>
              </a:rPr>
              <a:t>Hypothesis: </a:t>
            </a:r>
            <a:r>
              <a:rPr lang="en-US" sz="2700" b="1" dirty="0">
                <a:solidFill>
                  <a:srgbClr val="002147"/>
                </a:solidFill>
                <a:latin typeface="Calibri"/>
              </a:rPr>
              <a:t>Trade the residual after neutralizing level, slope, and curvature 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2147"/>
                </a:solidFill>
                <a:latin typeface="Calibri"/>
              </a:rPr>
              <a:t>Most of the yield curve movements can be explained using three factors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.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 We assume the rest is noise that will mean revert. 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pic>
        <p:nvPicPr>
          <p:cNvPr id="10" name="Picture 9" descr="fig01_yield_levels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6858000" cy="25956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8660" y="4653085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i="1" dirty="0">
                <a:solidFill>
                  <a:srgbClr val="00A38E"/>
                </a:solidFill>
                <a:latin typeface="Calibri"/>
              </a:rPr>
              <a:t>Data scope is from </a:t>
            </a:r>
            <a:r>
              <a:rPr sz="1100" b="0" i="1" dirty="0">
                <a:solidFill>
                  <a:srgbClr val="00A38E"/>
                </a:solidFill>
                <a:latin typeface="Calibri"/>
              </a:rPr>
              <a:t>1977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-02-16 </a:t>
            </a:r>
            <a:r>
              <a:rPr lang="en-US" sz="1100" i="1" dirty="0">
                <a:solidFill>
                  <a:srgbClr val="00A38E"/>
                </a:solidFill>
                <a:latin typeface="Calibri"/>
              </a:rPr>
              <a:t>to </a:t>
            </a:r>
            <a:r>
              <a:rPr sz="1100" b="0" i="1" dirty="0">
                <a:solidFill>
                  <a:srgbClr val="00A38E"/>
                </a:solidFill>
                <a:latin typeface="Calibri"/>
              </a:rPr>
              <a:t>2026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-05-21</a:t>
            </a:r>
            <a:r>
              <a:rPr sz="1100" b="0" i="1" dirty="0">
                <a:solidFill>
                  <a:srgbClr val="00A38E"/>
                </a:solidFill>
                <a:latin typeface="Calibri"/>
              </a:rPr>
              <a:t>.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 </a:t>
            </a:r>
            <a:r>
              <a:rPr lang="en-US" sz="1100" i="1" dirty="0">
                <a:solidFill>
                  <a:srgbClr val="00A38E"/>
                </a:solidFill>
                <a:latin typeface="Calibri"/>
              </a:rPr>
              <a:t>Yield movements are highly collinear, implying that there is a set of systematic factors driving the movement.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 </a:t>
            </a:r>
            <a:endParaRPr sz="1100" b="0" i="1" dirty="0">
              <a:solidFill>
                <a:srgbClr val="00A38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6858000" cy="968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Literature says 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≈ 99% of daily variance = level + slope + curvature.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Then, the residual movements can represent artifacts of price-insensitive trades which can be exploited.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To capture the residual movements only, it is important we hedge the factor exposures. That is, we must run a relative value book that maintains factor neutrality.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954373"/>
              </p:ext>
            </p:extLst>
          </p:nvPr>
        </p:nvGraphicFramePr>
        <p:xfrm>
          <a:off x="7726679" y="2057400"/>
          <a:ext cx="3888024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84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bp </a:t>
                      </a:r>
                      <a:r>
                        <a:rPr lang="el-GR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6M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2Y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30Y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-0.02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8.95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8.07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7.84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7.24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6.52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-127.0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-110.0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-118.0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-108.0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-67.0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-56.0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-1.53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-1.53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-2.83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-3.6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-3.67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-3.3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1.72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3.52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134.0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117.0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146.0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72.0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65.0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26679" y="4709160"/>
            <a:ext cx="4005246" cy="1210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200" b="1" i="0" dirty="0">
                <a:solidFill>
                  <a:srgbClr val="002147"/>
                </a:solidFill>
                <a:latin typeface="Calibri"/>
              </a:rPr>
              <a:t>Window  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1977-02-16 → 2026-05-21 (12,654 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obs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200" b="1" i="0" dirty="0">
                <a:solidFill>
                  <a:srgbClr val="002147"/>
                </a:solidFill>
                <a:latin typeface="Calibri"/>
              </a:rPr>
              <a:t>Universe  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3M, 6M, 2Y, 5Y, 10Y, 30Y </a:t>
            </a:r>
            <a:endParaRPr lang="en-US" sz="1200" b="0" i="0" dirty="0">
              <a:solidFill>
                <a:srgbClr val="1A1A1A"/>
              </a:solidFill>
              <a:latin typeface="Calibri"/>
            </a:endParaRPr>
          </a:p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147"/>
                </a:solidFill>
              </a:rPr>
              <a:t>Split    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T</a:t>
            </a:r>
            <a:r>
              <a:rPr sz="1200" i="0" dirty="0">
                <a:solidFill>
                  <a:srgbClr val="1A1A1A"/>
                </a:solidFill>
                <a:latin typeface="Calibri"/>
              </a:rPr>
              <a:t>rain</a:t>
            </a:r>
            <a:r>
              <a:rPr lang="en-US" sz="1200" i="0" dirty="0">
                <a:solidFill>
                  <a:srgbClr val="1A1A1A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1977-02-16 ~ 2006-12-22 (7592 days)</a:t>
            </a:r>
          </a:p>
          <a:p>
            <a:pPr lvl="1">
              <a:lnSpc>
                <a:spcPct val="11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V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al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2006-12-25 ~ 2016-09-02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(2530 days)</a:t>
            </a:r>
            <a:endParaRPr lang="en-US" sz="1200" b="0" i="0" dirty="0">
              <a:solidFill>
                <a:srgbClr val="1A1A1A"/>
              </a:solidFill>
              <a:latin typeface="Calibri"/>
            </a:endParaRPr>
          </a:p>
          <a:p>
            <a:pPr lvl="1">
              <a:lnSpc>
                <a:spcPct val="11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T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est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2016-09-05 ~ 2026-05-21 (2532 days)</a:t>
            </a:r>
            <a:endParaRPr sz="12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2C40E-BA6C-E5C9-4D2D-8275DCC0A1DC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Theory: Empirical Findings Confirm Literature Results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2147"/>
                </a:solidFill>
                <a:latin typeface="Calibri"/>
              </a:rPr>
              <a:t>The sign pattern we see across the three PCs provide a satisfying, intuitive interpretation.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pic>
        <p:nvPicPr>
          <p:cNvPr id="10" name="Picture 9" descr="fig24_pc_loadings_rolling_vs_exp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7863840" cy="2480321"/>
          </a:xfrm>
          <a:prstGeom prst="rect">
            <a:avLst/>
          </a:prstGeom>
        </p:spPr>
      </p:pic>
      <p:pic>
        <p:nvPicPr>
          <p:cNvPr id="12" name="Picture 11" descr="fig25_evr_over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177"/>
            <a:ext cx="6035040" cy="20533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14162" y="4627806"/>
            <a:ext cx="4998718" cy="1768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7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Used window of 252 days to extract PCA components via rolling method vs expanding method and then computed the mean.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7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Positive loadings for PC1 indicate level effects, negative short end and positive long end for PC2 indicate slope effect, different signs for belly and wings for PC3 indicate curvature effect.</a:t>
            </a:r>
          </a:p>
          <a:p>
            <a:pPr marL="237744" indent="-237744" algn="l">
              <a:lnSpc>
                <a:spcPct val="106000"/>
              </a:lnSpc>
              <a:spcAft>
                <a:spcPts val="7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During GFC, bulk of yield movement can be explained via slope effect (yield curve inversion)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FBBC7-4B5D-352C-E9A3-51B150B6446B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Methodology: From residuals to concrete positions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 dirty="0">
                <a:solidFill>
                  <a:srgbClr val="002147"/>
                </a:solidFill>
                <a:latin typeface="Calibri"/>
              </a:rPr>
              <a:t>Standardize the cumulative residual into a z-score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 to build mean-reverting signal. Convert signal to actual trade positions.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2553462" cy="566928"/>
          </a:xfrm>
          <a:prstGeom prst="round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Residual  rₜ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2102" y="196596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A38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1965960"/>
            <a:ext cx="2553462" cy="566928"/>
          </a:xfrm>
          <a:prstGeom prst="round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Cumulative Residual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US" sz="1200" b="1" dirty="0">
                <a:solidFill>
                  <a:srgbClr val="FFFFFF"/>
                </a:solidFill>
                <a:latin typeface="Calibri"/>
              </a:rPr>
              <a:t>c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8172" y="196596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A38E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780" y="1965960"/>
            <a:ext cx="2553462" cy="566928"/>
          </a:xfrm>
          <a:prstGeom prst="round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Map to Signal s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4242" y="196596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A38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6850" y="1965960"/>
            <a:ext cx="2553462" cy="566928"/>
          </a:xfrm>
          <a:prstGeom prst="round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Trade Vector qₜ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7" name="Picture 16" descr="fig03_residual_signal_A_v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6675120" cy="2004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59" y="4912956"/>
            <a:ext cx="66751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1" dirty="0">
                <a:solidFill>
                  <a:srgbClr val="00A38E"/>
                </a:solidFill>
                <a:latin typeface="Calibri"/>
              </a:rPr>
              <a:t>Version A (reset each refit) vs Version B (rolling-K sum), 10Y residual.</a:t>
            </a:r>
          </a:p>
        </p:txBody>
      </p:sp>
      <p:pic>
        <p:nvPicPr>
          <p:cNvPr id="19" name="Picture 18" descr="fig26_zscore_rol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2926080"/>
            <a:ext cx="3217542" cy="3246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98079" y="6263640"/>
            <a:ext cx="4023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Rolling</a:t>
            </a:r>
            <a:r>
              <a:rPr sz="1100" b="0" i="1" dirty="0">
                <a:solidFill>
                  <a:srgbClr val="00A38E"/>
                </a:solidFill>
                <a:latin typeface="Calibri"/>
              </a:rPr>
              <a:t> z-score 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and </a:t>
            </a:r>
            <a:r>
              <a:rPr sz="1100" b="0" i="1" dirty="0">
                <a:solidFill>
                  <a:srgbClr val="00A38E"/>
                </a:solidFill>
                <a:latin typeface="Calibri"/>
              </a:rPr>
              <a:t>±2σ 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bands. </a:t>
            </a:r>
            <a:r>
              <a:rPr lang="en-US" sz="1100" i="1" dirty="0">
                <a:solidFill>
                  <a:srgbClr val="00A38E"/>
                </a:solidFill>
                <a:latin typeface="Calibri"/>
              </a:rPr>
              <a:t>Potential entry and exit logic.</a:t>
            </a:r>
            <a:endParaRPr sz="1100" b="0" i="1" dirty="0">
              <a:solidFill>
                <a:srgbClr val="00A38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268668"/>
            <a:ext cx="6675120" cy="1032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Since we are interested in relative valuation of yield levels, we accumulate the residual yield changes and study mean reverting property of cumulative residuals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Map cumulative residuals to signals (z-score is used in this study) that are tradable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 </a:t>
            </a:r>
            <a:endParaRPr lang="en-US"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+1-day execution lag throughout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 to prevent look-ahead bias.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dirty="0">
                <a:solidFill>
                  <a:srgbClr val="002147"/>
                </a:solidFill>
                <a:latin typeface="Calibri"/>
              </a:rPr>
              <a:t>Strategies: Three Main Approaches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1417320"/>
                <a:ext cx="11091672" cy="2525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en-US" sz="1600" b="1" i="0" dirty="0">
                    <a:solidFill>
                      <a:srgbClr val="002147"/>
                    </a:solidFill>
                    <a:latin typeface="Calibri"/>
                  </a:rPr>
                  <a:t>Start from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  <m:sub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bSup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𝐂𝐚𝐩𝐢𝐭𝐚𝐥</m:t>
                        </m:r>
                      </m:e>
                      <m:sub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600" b="1" dirty="0">
                    <a:solidFill>
                      <a:srgbClr val="002147"/>
                    </a:solidFill>
                    <a:latin typeface="Calibri"/>
                  </a:rPr>
                  <a:t> We use this approximation to compute a proxy pnl expressed in yield space.</a:t>
                </a:r>
                <a:endParaRPr lang="en-US" sz="1600" b="1" i="0" dirty="0">
                  <a:solidFill>
                    <a:srgbClr val="002147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17320"/>
                <a:ext cx="11091672" cy="252570"/>
              </a:xfrm>
              <a:prstGeom prst="rect">
                <a:avLst/>
              </a:prstGeom>
              <a:blipFill>
                <a:blip r:embed="rId3"/>
                <a:stretch>
                  <a:fillRect l="-1099" t="-21951" b="-5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548640" y="2011680"/>
            <a:ext cx="3370392" cy="107899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marL="0" indent="0" algn="l">
              <a:lnSpc>
                <a:spcPct val="102000"/>
              </a:lnSpc>
              <a:spcAft>
                <a:spcPts val="200"/>
              </a:spcAft>
              <a:buNone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Method 1 — single tenor</a:t>
            </a: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1200" b="0" i="0" dirty="0">
                <a:solidFill>
                  <a:srgbClr val="1A1A1A"/>
                </a:solidFill>
                <a:latin typeface="Calibri"/>
              </a:rPr>
              <a:t>Trade only the most-dislocated tenor, projected to neutrality.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 M is the residual projection. Matrix</a:t>
            </a: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1100" b="0" i="0" dirty="0">
                <a:solidFill>
                  <a:srgbClr val="00A38E"/>
                </a:solidFill>
                <a:latin typeface="Consolas"/>
              </a:rPr>
              <a:t>g = −sₘ · M eₘ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38" y="3468629"/>
            <a:ext cx="3370392" cy="107899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marL="0" indent="0" algn="l">
              <a:lnSpc>
                <a:spcPct val="102000"/>
              </a:lnSpc>
              <a:spcAft>
                <a:spcPts val="200"/>
              </a:spcAft>
              <a:buNone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Method 2 — min-variance hedge</a:t>
            </a: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1200" b="0" i="0" dirty="0">
                <a:solidFill>
                  <a:srgbClr val="1A1A1A"/>
                </a:solidFill>
                <a:latin typeface="Calibri"/>
              </a:rPr>
              <a:t>Pin the 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most-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dislocat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ed tenor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; hedge the rest to exact neutrality.</a:t>
            </a:r>
          </a:p>
          <a:p>
            <a:r>
              <a:rPr sz="1100" b="0" i="0" dirty="0">
                <a:solidFill>
                  <a:srgbClr val="00A38E"/>
                </a:solidFill>
                <a:latin typeface="Consolas"/>
              </a:rPr>
              <a:t>min ½ </a:t>
            </a:r>
            <a:r>
              <a:rPr sz="1100" b="0" i="0" dirty="0" err="1">
                <a:solidFill>
                  <a:srgbClr val="00A38E"/>
                </a:solidFill>
                <a:latin typeface="Consolas"/>
              </a:rPr>
              <a:t>gᵀΣg</a:t>
            </a:r>
            <a:r>
              <a:rPr sz="1100" b="0" i="0" dirty="0">
                <a:solidFill>
                  <a:srgbClr val="00A38E"/>
                </a:solidFill>
                <a:latin typeface="Consolas"/>
              </a:rPr>
              <a:t>   </a:t>
            </a:r>
            <a:r>
              <a:rPr sz="1100" b="0" i="0" dirty="0" err="1">
                <a:solidFill>
                  <a:srgbClr val="00A38E"/>
                </a:solidFill>
                <a:latin typeface="Consolas"/>
              </a:rPr>
              <a:t>s.t.</a:t>
            </a:r>
            <a:r>
              <a:rPr sz="1100" b="0" i="0" dirty="0">
                <a:solidFill>
                  <a:srgbClr val="00A38E"/>
                </a:solidFill>
                <a:latin typeface="Consolas"/>
              </a:rPr>
              <a:t>  Vg = 0,  eₘᵀg = </a:t>
            </a:r>
            <a:r>
              <a:rPr lang="en-US" sz="1100" dirty="0">
                <a:solidFill>
                  <a:srgbClr val="00A38E"/>
                </a:solidFill>
                <a:latin typeface="Consolas"/>
              </a:rPr>
              <a:t>−sₘ </a:t>
            </a:r>
            <a:endParaRPr sz="1100" b="0" i="0" dirty="0">
              <a:solidFill>
                <a:srgbClr val="00A38E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39" y="4925578"/>
            <a:ext cx="3370392" cy="11704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4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marL="0" indent="0" algn="l">
              <a:lnSpc>
                <a:spcPct val="102000"/>
              </a:lnSpc>
              <a:spcAft>
                <a:spcPts val="200"/>
              </a:spcAft>
              <a:buNone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Method 3 — mean-variance</a:t>
            </a: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Incorporate size of signal by introducing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endParaRPr lang="en-US" sz="1200" b="0" i="0" dirty="0">
              <a:solidFill>
                <a:srgbClr val="1A1A1A"/>
              </a:solidFill>
              <a:latin typeface="Calibri"/>
            </a:endParaRP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1200" b="0" i="0" dirty="0">
                <a:solidFill>
                  <a:srgbClr val="1A1A1A"/>
                </a:solidFill>
                <a:latin typeface="Calibri"/>
              </a:rPr>
              <a:t>α = −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s·σ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against Σ </a:t>
            </a:r>
            <a:endParaRPr lang="en-US" sz="1200" b="0" i="0" dirty="0">
              <a:solidFill>
                <a:srgbClr val="1A1A1A"/>
              </a:solidFill>
              <a:latin typeface="Calibri"/>
            </a:endParaRPr>
          </a:p>
          <a:p>
            <a:pPr marL="0" indent="0" algn="l">
              <a:lnSpc>
                <a:spcPct val="102000"/>
              </a:lnSpc>
              <a:spcAft>
                <a:spcPts val="300"/>
              </a:spcAft>
              <a:buNone/>
            </a:pPr>
            <a:r>
              <a:rPr sz="1200" b="0" i="0" dirty="0">
                <a:solidFill>
                  <a:srgbClr val="1A1A1A"/>
                </a:solidFill>
                <a:latin typeface="Calibri"/>
              </a:rPr>
              <a:t>(γ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 can be calibrated to achieve target risk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).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 dirty="0">
                <a:solidFill>
                  <a:srgbClr val="00A38E"/>
                </a:solidFill>
                <a:latin typeface="Consolas"/>
              </a:rPr>
              <a:t>max αᵀg − (γ/2) </a:t>
            </a:r>
            <a:r>
              <a:rPr sz="1100" b="0" i="0" dirty="0" err="1">
                <a:solidFill>
                  <a:srgbClr val="00A38E"/>
                </a:solidFill>
                <a:latin typeface="Consolas"/>
              </a:rPr>
              <a:t>gᵀΣg</a:t>
            </a:r>
            <a:r>
              <a:rPr sz="1100" b="0" i="0" dirty="0">
                <a:solidFill>
                  <a:srgbClr val="00A38E"/>
                </a:solidFill>
                <a:latin typeface="Consolas"/>
              </a:rPr>
              <a:t>   </a:t>
            </a:r>
            <a:r>
              <a:rPr sz="1100" b="0" i="0" dirty="0" err="1">
                <a:solidFill>
                  <a:srgbClr val="00A38E"/>
                </a:solidFill>
                <a:latin typeface="Consolas"/>
              </a:rPr>
              <a:t>s.t.</a:t>
            </a:r>
            <a:r>
              <a:rPr sz="1100" b="0" i="0" dirty="0">
                <a:solidFill>
                  <a:srgbClr val="00A38E"/>
                </a:solidFill>
                <a:latin typeface="Consolas"/>
              </a:rPr>
              <a:t>  Vg = 0</a:t>
            </a:r>
          </a:p>
        </p:txBody>
      </p:sp>
      <p:pic>
        <p:nvPicPr>
          <p:cNvPr id="13" name="Picture 12" descr="fig05_m3_cov_p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92" y="3716943"/>
            <a:ext cx="3262468" cy="1887495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26203"/>
              </p:ext>
            </p:extLst>
          </p:nvPr>
        </p:nvGraphicFramePr>
        <p:xfrm>
          <a:off x="4237588" y="3429000"/>
          <a:ext cx="3800893" cy="2133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cov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IR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  <a:endParaRPr sz="10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  <a:endParaRPr sz="10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0.505</a:t>
                      </a:r>
                      <a:endParaRPr sz="10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838749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ewma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1.249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ewma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1.263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1.318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237588" y="5703118"/>
                <a:ext cx="7329572" cy="5090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en-US" sz="1100" b="0" i="1" dirty="0">
                    <a:solidFill>
                      <a:srgbClr val="00A38E"/>
                    </a:solidFill>
                    <a:latin typeface="Calibri"/>
                  </a:rPr>
                  <a:t>All strategies display positive gross pnl (computed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00A38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100" b="0" i="0" smtClean="0">
                                <a:solidFill>
                                  <a:srgbClr val="00A38E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00A38E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b="0" i="0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smtClean="0">
                            <a:solidFill>
                              <a:srgbClr val="00A38E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100" b="0" i="1" dirty="0">
                    <a:solidFill>
                      <a:srgbClr val="00A38E"/>
                    </a:solidFill>
                    <a:latin typeface="Calibri"/>
                  </a:rPr>
                  <a:t>) when evaluated in a walk forward manner using intuitive parameters. </a:t>
                </a:r>
                <a:r>
                  <a:rPr lang="en-US" sz="1100" i="1" dirty="0">
                    <a:solidFill>
                      <a:srgbClr val="00A38E"/>
                    </a:solidFill>
                    <a:latin typeface="Calibri"/>
                  </a:rPr>
                  <a:t>Method 3, which uses signals from all the tenors, display highest gross pnl. </a:t>
                </a:r>
                <a:r>
                  <a:rPr lang="en-US" sz="1100" i="1" dirty="0" err="1">
                    <a:solidFill>
                      <a:srgbClr val="00A38E"/>
                    </a:solidFill>
                    <a:latin typeface="Calibri"/>
                  </a:rPr>
                  <a:t>Ledoit</a:t>
                </a:r>
                <a:r>
                  <a:rPr lang="en-US" sz="1100" i="1" dirty="0">
                    <a:solidFill>
                      <a:srgbClr val="00A38E"/>
                    </a:solidFill>
                    <a:latin typeface="Calibri"/>
                  </a:rPr>
                  <a:t>-Wolf covariance estimate provides best result.</a:t>
                </a:r>
                <a:endParaRPr sz="1100" b="0" i="1" dirty="0">
                  <a:solidFill>
                    <a:srgbClr val="00A38E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588" y="5703118"/>
                <a:ext cx="7329572" cy="509050"/>
              </a:xfrm>
              <a:prstGeom prst="rect">
                <a:avLst/>
              </a:prstGeom>
              <a:blipFill>
                <a:blip r:embed="rId5"/>
                <a:stretch>
                  <a:fillRect l="-1164" t="-9639" r="-998" b="-16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862F022-B124-CE0E-B4E8-46597546D2A5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55FEFC-11E7-BA2B-1EAA-75C1C20C01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171" y="1874436"/>
            <a:ext cx="3944311" cy="13716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0FBC4E-C65C-C0F1-F52D-973213B11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1073" y="1743744"/>
            <a:ext cx="3426087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66666"/>
                </a:solidFill>
                <a:latin typeface="Calibri"/>
              </a:rPr>
              <a:t>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Layer 1: Transaction Costs and Vol Targeting (10%)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A flat dollar fee per contract reduces edge completely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.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 </a:t>
            </a:r>
            <a:r>
              <a:rPr lang="en-US" sz="1600" b="1" dirty="0">
                <a:solidFill>
                  <a:srgbClr val="002147"/>
                </a:solidFill>
                <a:latin typeface="Calibri"/>
              </a:rPr>
              <a:t>DV01 based cost assumption 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pic>
        <p:nvPicPr>
          <p:cNvPr id="15" name="Picture 14" descr="fig06_costs_pnl_and_vol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7070"/>
            <a:ext cx="6976118" cy="1878324"/>
          </a:xfrm>
          <a:prstGeom prst="rect">
            <a:avLst/>
          </a:prstGeom>
        </p:spPr>
      </p:pic>
      <p:pic>
        <p:nvPicPr>
          <p:cNvPr id="16" name="Picture 15" descr="fig07_1_flat_cost_diagno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00" y="1874519"/>
            <a:ext cx="3997572" cy="2180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038588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i="1" dirty="0">
                <a:solidFill>
                  <a:srgbClr val="00A38E"/>
                </a:solidFill>
                <a:latin typeface="Calibri"/>
              </a:rPr>
              <a:t>Net IR collapses to -2.11 from 1.5 if assuming flat-fee. If assuming dv01_bps framework, net IR is 0.44 over the training period.</a:t>
            </a:r>
            <a:endParaRPr sz="1100" b="0" i="1" dirty="0">
              <a:solidFill>
                <a:srgbClr val="00A38E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215EDF-CCA5-1E13-CB0E-37BCFCCEAF83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19" name="Picture 18" descr="fig07_2_dv01bp_vs_flat.png">
            <a:extLst>
              <a:ext uri="{FF2B5EF4-FFF2-40B4-BE49-F238E27FC236}">
                <a16:creationId xmlns:a16="http://schemas.microsoft.com/office/drawing/2014/main" id="{27529FDD-E80E-30EC-E730-BA5C7256A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54635"/>
            <a:ext cx="6949440" cy="18783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11806D7-92D2-54E7-9AB4-8973B43CF644}"/>
              </a:ext>
            </a:extLst>
          </p:cNvPr>
          <p:cNvSpPr txBox="1"/>
          <p:nvPr/>
        </p:nvSpPr>
        <p:spPr>
          <a:xfrm>
            <a:off x="7955280" y="4186735"/>
            <a:ext cx="3685032" cy="217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Performance degradation is real when incorporating cost from crossing the bid-ask spread.</a:t>
            </a:r>
            <a:endParaRPr lang="en-US"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Because turnover for Treasury Bills was high, multiplying by the same flat fee resulted in very high trading costs</a:t>
            </a:r>
          </a:p>
          <a:p>
            <a:pPr marL="237744" indent="-237744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Assuming spread in terms of yield, cost = half-spread × DV01 × contracts traded </a:t>
            </a:r>
            <a:r>
              <a:rPr lang="en-US" sz="1400" dirty="0">
                <a:solidFill>
                  <a:srgbClr val="1A1A1A"/>
                </a:solidFill>
                <a:latin typeface="Calibri"/>
                <a:sym typeface="Wingdings" panose="05000000000000000000" pitchFamily="2" charset="2"/>
              </a:rPr>
              <a:t> Results in much equal distribution of costs across tenors</a:t>
            </a:r>
            <a:endParaRPr sz="140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Layer 2: Adopting a no-trade band to let weights drift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48640" y="1417320"/>
                <a:ext cx="11091672" cy="40145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b="1" dirty="0">
                    <a:solidFill>
                      <a:srgbClr val="002147"/>
                    </a:solidFill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b="1" i="1">
                                    <a:solidFill>
                                      <a:srgbClr val="0021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>
                                    <a:solidFill>
                                      <a:srgbClr val="002147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600" b="1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l-GR" sz="1600" b="1" i="1">
                                    <a:solidFill>
                                      <a:srgbClr val="0021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sz="1600" b="1" i="1">
                                        <a:solidFill>
                                          <a:srgbClr val="00214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600" b="1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sub>
                        </m:sSub>
                      </m:den>
                    </m:f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1" i="0" dirty="0">
                    <a:solidFill>
                      <a:srgbClr val="002147"/>
                    </a:solidFill>
                    <a:latin typeface="Calibri"/>
                  </a:rPr>
                  <a:t> Only trade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sz="1600" b="1" i="0" dirty="0">
                    <a:solidFill>
                      <a:srgbClr val="002147"/>
                    </a:solidFill>
                    <a:latin typeface="Calibri"/>
                  </a:rPr>
                  <a:t>, but to the edge of the band: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1600" b="1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1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1600" b="1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pt-BR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1600" b="1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pt-BR" sz="1600" b="1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1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pt-BR" sz="1600" b="1" i="1">
                        <a:solidFill>
                          <a:srgbClr val="00214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i="0" dirty="0">
                  <a:solidFill>
                    <a:srgbClr val="002147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17320"/>
                <a:ext cx="11091672" cy="401457"/>
              </a:xfrm>
              <a:prstGeom prst="rect">
                <a:avLst/>
              </a:prstGeom>
              <a:blipFill>
                <a:blip r:embed="rId3"/>
                <a:stretch>
                  <a:fillRect l="-1099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fig07_4_tau_sweep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6651057" cy="30017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3959" y="5026776"/>
            <a:ext cx="967645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1" dirty="0">
                <a:solidFill>
                  <a:srgbClr val="00A38E"/>
                </a:solidFill>
                <a:latin typeface="Calibri"/>
              </a:rPr>
              <a:t>Sweeping the band τ: turnover and cost drag fall while gross IR erodes only slowly.</a:t>
            </a:r>
            <a:r>
              <a:rPr lang="en-US" sz="1100" b="0" i="1" dirty="0">
                <a:solidFill>
                  <a:srgbClr val="00A38E"/>
                </a:solidFill>
                <a:latin typeface="Calibri"/>
              </a:rPr>
              <a:t> This leads to higher net IR. Threshold of 0.75 seems to be the best choice.</a:t>
            </a:r>
            <a:endParaRPr sz="1100" b="0" i="1" dirty="0">
              <a:solidFill>
                <a:srgbClr val="00A38E"/>
              </a:solidFill>
              <a:latin typeface="Calibri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046938"/>
              </p:ext>
            </p:extLst>
          </p:nvPr>
        </p:nvGraphicFramePr>
        <p:xfrm>
          <a:off x="7269480" y="2050906"/>
          <a:ext cx="4370832" cy="2743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431"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τ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ross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IR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et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IR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Cost 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drag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Vol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1.179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-0.184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1.198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0.033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0.138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1.206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0.045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1.503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0.409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1.186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0.114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0.561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0.016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31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0.027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E7E804A-9BF3-0F01-5623-B0E5C4789B9F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90166-B7FD-49D2-8CE5-289E64B538FA}"/>
              </a:ext>
            </a:extLst>
          </p:cNvPr>
          <p:cNvSpPr txBox="1"/>
          <p:nvPr/>
        </p:nvSpPr>
        <p:spPr>
          <a:xfrm>
            <a:off x="548640" y="5353666"/>
            <a:ext cx="11064240" cy="968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1" i="0" dirty="0">
                <a:solidFill>
                  <a:srgbClr val="1A1A1A"/>
                </a:solidFill>
                <a:latin typeface="Calibri"/>
              </a:rPr>
              <a:t>Motivation</a:t>
            </a:r>
            <a:r>
              <a:rPr lang="en-US" sz="1400" b="1" dirty="0">
                <a:solidFill>
                  <a:srgbClr val="1A1A1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Methods 2 and 3 emit continuous weight vectors every time step. Thus, we end up rebalancing every day, resulting in </a:t>
            </a:r>
            <a:r>
              <a:rPr lang="en-US" sz="1400" dirty="0">
                <a:solidFill>
                  <a:srgbClr val="1A1A1A"/>
                </a:solidFill>
                <a:latin typeface="Calibri"/>
                <a:sym typeface="Wingdings" panose="05000000000000000000" pitchFamily="2" charset="2"/>
              </a:rPr>
              <a:t>high trading costs. To address this issue, we introduce a no-trade band area in which we let our weights drift. That is, we trade-off between perfect neutrality and lower turnover.</a:t>
            </a:r>
            <a:endParaRPr lang="en-US" sz="1400" b="1" dirty="0">
              <a:solidFill>
                <a:srgbClr val="1A1A1A"/>
              </a:solidFill>
              <a:latin typeface="Calibri"/>
              <a:sym typeface="Wingdings" panose="05000000000000000000" pitchFamily="2" charset="2"/>
            </a:endParaRP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Increasing threshold from 0 to 1 causes turnover to decrease rapidly while theoretical edge decays at a slower rate. This results in higher net 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Layer 3: </a:t>
            </a:r>
            <a:r>
              <a:rPr sz="2700" b="1" i="0" dirty="0">
                <a:solidFill>
                  <a:srgbClr val="002147"/>
                </a:solidFill>
                <a:latin typeface="Calibri"/>
              </a:rPr>
              <a:t>Hedge </a:t>
            </a:r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I</a:t>
            </a:r>
            <a:r>
              <a:rPr sz="2700" b="1" i="0" dirty="0">
                <a:solidFill>
                  <a:srgbClr val="002147"/>
                </a:solidFill>
                <a:latin typeface="Calibri"/>
              </a:rPr>
              <a:t>mperfectly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002147"/>
                </a:solidFill>
                <a:latin typeface="Calibri"/>
              </a:rPr>
              <a:t>Relax exact neutrality to a small 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factor 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leakage budget λ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— 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Trade only </a:t>
            </a:r>
            <a:r>
              <a:rPr lang="es-ES" sz="1600" b="1" dirty="0">
                <a:solidFill>
                  <a:srgbClr val="002147"/>
                </a:solidFill>
              </a:rPr>
              <a:t>2Y / 5Y / 10Y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fig08_lambda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0177"/>
            <a:ext cx="7129667" cy="1805445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22117"/>
              </p:ext>
            </p:extLst>
          </p:nvPr>
        </p:nvGraphicFramePr>
        <p:xfrm>
          <a:off x="7767587" y="2210803"/>
          <a:ext cx="4028175" cy="2007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6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ethod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universe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ross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IR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et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IR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leak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turnover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all</a:t>
                      </a:r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1.1614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-0.5077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0.0054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trade-3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0.673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-0.3673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0.191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0.0044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M2-all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all-6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0.0131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-1.4454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0.0093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M2-all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trade-3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0.1497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-0.4609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0.5091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0.0012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all-6</a:t>
                      </a:r>
                    </a:p>
                    <a:p>
                      <a:pPr algn="r"/>
                      <a:endParaRPr sz="10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1.496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-0.1222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0.0035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27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trade-3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1.2555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-0.0131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0.3175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6392D1B-7B1B-A3C0-9DD4-46865F81B549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FFD2AC-D7D2-0C00-1989-10F1D98BD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4691"/>
            <a:ext cx="7129668" cy="20349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56F150-10C3-D3E4-BE93-8E28166CECD9}"/>
              </a:ext>
            </a:extLst>
          </p:cNvPr>
          <p:cNvSpPr txBox="1"/>
          <p:nvPr/>
        </p:nvSpPr>
        <p:spPr>
          <a:xfrm>
            <a:off x="7845553" y="4497779"/>
            <a:ext cx="3746633" cy="165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As we increase the cost coefficient, we see that factor leakage drops to zero, but this comes with reduced net IR</a:t>
            </a:r>
          </a:p>
          <a:p>
            <a:pPr marL="237744" indent="-237744" algn="l">
              <a:lnSpc>
                <a:spcPct val="106000"/>
              </a:lnSpc>
              <a:spcAft>
                <a:spcPts val="5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/>
              </a:rPr>
              <a:t>Trading only the three tenors provides massive performance bumps. For method 3, we see positive IR, although performance seemed to plateau in 1990.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Layer 4: Regime Filtering Based on MOVE Index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 dirty="0">
                <a:solidFill>
                  <a:srgbClr val="002147"/>
                </a:solidFill>
                <a:latin typeface="Calibri"/>
              </a:rPr>
              <a:t>Flatten when MOVE pierces its 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upper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 ban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. Performance seemed to improve in-sample, but that wasn’t the case in out-of</a:t>
            </a:r>
            <a:r>
              <a:rPr lang="en-US" sz="1600" b="1" dirty="0">
                <a:solidFill>
                  <a:srgbClr val="002147"/>
                </a:solidFill>
                <a:latin typeface="Calibri"/>
              </a:rPr>
              <a:t>-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sample.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pic>
        <p:nvPicPr>
          <p:cNvPr id="11" name="Picture 10" descr="fig09_move_series_and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5105"/>
            <a:ext cx="9707506" cy="2317761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367071"/>
              </p:ext>
            </p:extLst>
          </p:nvPr>
        </p:nvGraphicFramePr>
        <p:xfrm>
          <a:off x="705051" y="4584748"/>
          <a:ext cx="3886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r"/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k (VAL)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net IR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MDD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# </a:t>
                      </a: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days 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filtered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0.0078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0.1997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0.1205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0.1439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1181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0.0361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0.1806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267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0.0078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0.1997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072513" y="4654110"/>
                <a:ext cx="6333424" cy="17814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237744" indent="-237744" algn="l">
                  <a:lnSpc>
                    <a:spcPct val="106000"/>
                  </a:lnSpc>
                  <a:spcAft>
                    <a:spcPts val="500"/>
                  </a:spcAft>
                  <a:buClr>
                    <a:srgbClr val="00A38E"/>
                  </a:buClr>
                  <a:buSzPct val="70000"/>
                  <a:buFont typeface="Arial"/>
                  <a:buChar char="▪"/>
                </a:pPr>
                <a:r>
                  <a:rPr lang="en-US" sz="1400" b="0" i="0" dirty="0">
                    <a:solidFill>
                      <a:srgbClr val="1A1A1A"/>
                    </a:solidFill>
                    <a:latin typeface="Calibri"/>
                  </a:rPr>
                  <a:t>Hypothesize that higher volatility regime is not good for running a RV book.</a:t>
                </a:r>
              </a:p>
              <a:p>
                <a:pPr marL="237744" indent="-237744">
                  <a:lnSpc>
                    <a:spcPct val="106000"/>
                  </a:lnSpc>
                  <a:spcAft>
                    <a:spcPts val="500"/>
                  </a:spcAft>
                  <a:buClr>
                    <a:srgbClr val="00A38E"/>
                  </a:buClr>
                  <a:buSzPct val="70000"/>
                  <a:buFont typeface="Arial"/>
                  <a:buChar char="▪"/>
                </a:pPr>
                <a:r>
                  <a:rPr lang="en-US" sz="1400" dirty="0">
                    <a:solidFill>
                      <a:srgbClr val="1A1A1A"/>
                    </a:solidFill>
                    <a:latin typeface="Calibri"/>
                  </a:rPr>
                  <a:t>Use VIX Index-equivalent in fixed income space, which is MOVE Index.</a:t>
                </a:r>
              </a:p>
              <a:p>
                <a:pPr marL="237744" indent="-237744">
                  <a:lnSpc>
                    <a:spcPct val="106000"/>
                  </a:lnSpc>
                  <a:spcAft>
                    <a:spcPts val="500"/>
                  </a:spcAft>
                  <a:buClr>
                    <a:srgbClr val="00A38E"/>
                  </a:buClr>
                  <a:buSzPct val="70000"/>
                  <a:buFont typeface="Arial"/>
                  <a:buChar char="▪"/>
                </a:pPr>
                <a:r>
                  <a:rPr lang="en-US" sz="1400" dirty="0">
                    <a:solidFill>
                      <a:srgbClr val="1A1A1A"/>
                    </a:solidFill>
                  </a:rPr>
                  <a:t> MOVE mean-reverts slowly, so an adaptive band beats a fixed threshold. We</a:t>
                </a:r>
                <a:r>
                  <a:rPr lang="en-US" sz="1400" dirty="0">
                    <a:solidFill>
                      <a:srgbClr val="1A1A1A"/>
                    </a:solidFill>
                    <a:latin typeface="Calibri"/>
                  </a:rPr>
                  <a:t> interpret the crossover of long run average (252 days) of MOVE Index +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𝑀𝑂𝑉𝐸</m:t>
                        </m:r>
                      </m:e>
                    </m:d>
                  </m:oMath>
                </a14:m>
                <a:r>
                  <a:rPr lang="en-US" sz="1400" b="0" i="0" dirty="0">
                    <a:solidFill>
                      <a:srgbClr val="1A1A1A"/>
                    </a:solidFill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𝐸𝑊𝑀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𝑀𝑂𝑉𝐸</m:t>
                    </m:r>
                    <m:r>
                      <a:rPr lang="en-US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0" i="0" dirty="0">
                    <a:solidFill>
                      <a:srgbClr val="1A1A1A"/>
                    </a:solidFill>
                    <a:latin typeface="Calibri"/>
                  </a:rPr>
                  <a:t> as a risk-off filte</a:t>
                </a:r>
                <a:r>
                  <a:rPr lang="en-US" sz="1400" dirty="0">
                    <a:solidFill>
                      <a:srgbClr val="1A1A1A"/>
                    </a:solidFill>
                    <a:latin typeface="Calibri"/>
                  </a:rPr>
                  <a:t>r. </a:t>
                </a:r>
              </a:p>
              <a:p>
                <a:pPr marL="237744" indent="-237744">
                  <a:lnSpc>
                    <a:spcPct val="106000"/>
                  </a:lnSpc>
                  <a:spcAft>
                    <a:spcPts val="500"/>
                  </a:spcAft>
                  <a:buClr>
                    <a:srgbClr val="00A38E"/>
                  </a:buClr>
                  <a:buSzPct val="70000"/>
                  <a:buFont typeface="Arial"/>
                  <a:buChar char="▪"/>
                </a:pPr>
                <a:r>
                  <a:rPr lang="en-US" sz="1400" dirty="0">
                    <a:solidFill>
                      <a:srgbClr val="1A1A1A"/>
                    </a:solidFill>
                    <a:latin typeface="Calibri"/>
                  </a:rPr>
                  <a:t>Performance seemed to improve in in-sample performance, but out-of-sample performance worsened.</a:t>
                </a:r>
                <a:endParaRPr lang="en-US" sz="1400" b="0" i="0" dirty="0">
                  <a:solidFill>
                    <a:srgbClr val="1A1A1A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513" y="4654110"/>
                <a:ext cx="6333424" cy="1781450"/>
              </a:xfrm>
              <a:prstGeom prst="rect">
                <a:avLst/>
              </a:prstGeom>
              <a:blipFill>
                <a:blip r:embed="rId4"/>
                <a:stretch>
                  <a:fillRect l="-1059" t="-2730" b="-5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FD423B8-5EB7-95FD-B600-D1C33234C6F4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Robustness Check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 dirty="0">
                <a:solidFill>
                  <a:srgbClr val="002147"/>
                </a:solidFill>
                <a:latin typeface="Calibri"/>
              </a:rPr>
              <a:t>Lead-lag, jackknife and bootstrap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 analysis indicates t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he edge holds, with honest caveats.</a:t>
            </a:r>
          </a:p>
        </p:txBody>
      </p:sp>
      <p:pic>
        <p:nvPicPr>
          <p:cNvPr id="10" name="Picture 9" descr="fig11_leadla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13" y="1999175"/>
            <a:ext cx="6583680" cy="25503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777" y="4624521"/>
            <a:ext cx="6583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1" dirty="0">
                <a:solidFill>
                  <a:srgbClr val="00A38E"/>
                </a:solidFill>
                <a:latin typeface="Calibri"/>
              </a:rPr>
              <a:t>IR peaks at the causal +1-day shift (0.585</a:t>
            </a:r>
            <a:r>
              <a:rPr lang="en-US" sz="1100" i="1" dirty="0">
                <a:solidFill>
                  <a:srgbClr val="00A38E"/>
                </a:solidFill>
                <a:latin typeface="Calibri"/>
              </a:rPr>
              <a:t>). </a:t>
            </a:r>
            <a:endParaRPr sz="1100" b="0" i="1" dirty="0">
              <a:solidFill>
                <a:srgbClr val="00A38E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579282"/>
              </p:ext>
            </p:extLst>
          </p:nvPr>
        </p:nvGraphicFramePr>
        <p:xfrm>
          <a:off x="7336856" y="2148840"/>
          <a:ext cx="4303455" cy="2127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948"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ropped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IR_reduced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ΔIR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US_3M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-0.101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0.651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US_6M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-0.211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US_2Y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0.429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US_5Y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-0.182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US_10Y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-0.126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US_30Y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0.293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1" y="4985108"/>
            <a:ext cx="10720136" cy="12861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Lead-lag</a:t>
            </a:r>
            <a:r>
              <a:rPr lang="en-US" sz="1400" b="1" i="0" dirty="0">
                <a:solidFill>
                  <a:srgbClr val="002147"/>
                </a:solidFill>
                <a:latin typeface="Calibri"/>
              </a:rPr>
              <a:t>:</a:t>
            </a:r>
            <a:r>
              <a:rPr sz="1400" b="1" i="0" dirty="0">
                <a:solidFill>
                  <a:srgbClr val="002147"/>
                </a:solidFill>
                <a:latin typeface="Calibri"/>
              </a:rPr>
              <a:t> </a:t>
            </a:r>
            <a:r>
              <a:rPr lang="en-US" sz="1400" i="0" dirty="0">
                <a:solidFill>
                  <a:srgbClr val="002147"/>
                </a:solidFill>
                <a:latin typeface="Calibri"/>
              </a:rPr>
              <a:t>IR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p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eaks at +1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 (0.585).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We see slow decay for positive lags. However, IR drops by a huge margin when we have negative lags. This is expected behavior for a mean reversion strategy.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Jackknife.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Tested on best performing in-sample strategy (M3).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As we have confirmed, dropping the short end yield instruments in our universe improves net IR. In general,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dropping instruments from our universe lead to increase in IR.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1" i="0" dirty="0">
                <a:solidFill>
                  <a:srgbClr val="002147"/>
                </a:solidFill>
                <a:latin typeface="Calibri"/>
              </a:rPr>
              <a:t>Bootstrap. 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Validation mean </a:t>
            </a:r>
            <a:r>
              <a:rPr sz="1400" b="0" i="0" dirty="0" err="1">
                <a:solidFill>
                  <a:srgbClr val="1A1A1A"/>
                </a:solidFill>
                <a:latin typeface="Calibri"/>
              </a:rPr>
              <a:t>PnL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 sits inside the 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upper and lower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 band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s of bootstrap mean-pnl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66243D-610D-3E51-CE65-583B1F904C73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02147"/>
                </a:solidFill>
                <a:latin typeface="Calibri"/>
              </a:rPr>
              <a:t>Tune on </a:t>
            </a:r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V</a:t>
            </a:r>
            <a:r>
              <a:rPr sz="2700" b="1" i="0" dirty="0">
                <a:solidFill>
                  <a:srgbClr val="002147"/>
                </a:solidFill>
                <a:latin typeface="Calibri"/>
              </a:rPr>
              <a:t>alidation, </a:t>
            </a:r>
            <a:r>
              <a:rPr lang="en-US" sz="2700" b="1" dirty="0">
                <a:solidFill>
                  <a:srgbClr val="002147"/>
                </a:solidFill>
                <a:latin typeface="Calibri"/>
              </a:rPr>
              <a:t>Check on Test Set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9167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Tune parameters over </a:t>
            </a:r>
            <a:r>
              <a:rPr sz="1600" b="1" i="0" dirty="0">
                <a:solidFill>
                  <a:srgbClr val="002147"/>
                </a:solidFill>
                <a:latin typeface="Calibri"/>
              </a:rPr>
              <a:t>validatio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n. Final Test on </a:t>
            </a:r>
            <a:r>
              <a:rPr lang="en-US" sz="1600" b="1" dirty="0">
                <a:solidFill>
                  <a:srgbClr val="002147"/>
                </a:solidFill>
                <a:latin typeface="Calibri"/>
              </a:rPr>
              <a:t>hold-out. </a:t>
            </a:r>
            <a:r>
              <a:rPr lang="en-US" sz="1600" b="1" i="0" dirty="0">
                <a:solidFill>
                  <a:srgbClr val="002147"/>
                </a:solidFill>
                <a:latin typeface="Calibri"/>
              </a:rPr>
              <a:t>Despite our multiple trials, alpha couldn’t survive after trading costs.</a:t>
            </a:r>
            <a:endParaRPr sz="1600" b="1" i="0" dirty="0">
              <a:solidFill>
                <a:srgbClr val="002147"/>
              </a:solidFill>
              <a:latin typeface="Calibri"/>
            </a:endParaRPr>
          </a:p>
        </p:txBody>
      </p:sp>
      <p:pic>
        <p:nvPicPr>
          <p:cNvPr id="10" name="Picture 9" descr="fig12_test_top3_pn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863760"/>
            <a:ext cx="10672573" cy="2561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9338" y="332769"/>
            <a:ext cx="7315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1" dirty="0">
                <a:solidFill>
                  <a:srgbClr val="00A38E"/>
                </a:solidFill>
                <a:latin typeface="Calibri"/>
              </a:rPr>
              <a:t>Best M1/M2/M3 on the held-out TEST split under gross / flat $8.5 / dv01_bp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302" y="4554954"/>
            <a:ext cx="5656005" cy="10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Use </a:t>
            </a:r>
            <a:r>
              <a:rPr sz="1400" b="0" i="0" dirty="0" err="1">
                <a:solidFill>
                  <a:srgbClr val="1A1A1A"/>
                </a:solidFill>
                <a:latin typeface="Calibri"/>
              </a:rPr>
              <a:t>Optuna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 to search grid space intelligently. Search only on </a:t>
            </a:r>
            <a:r>
              <a:rPr sz="1400" b="0" i="0" dirty="0" err="1">
                <a:solidFill>
                  <a:srgbClr val="1A1A1A"/>
                </a:solidFill>
                <a:latin typeface="Calibri"/>
              </a:rPr>
              <a:t>train+val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 to prevent leakage. B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est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validation 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net IR 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 was </a:t>
            </a:r>
            <a:r>
              <a:rPr sz="1400" b="0" i="0" dirty="0">
                <a:solidFill>
                  <a:srgbClr val="1A1A1A"/>
                </a:solidFill>
                <a:latin typeface="Calibri"/>
              </a:rPr>
              <a:t>0.830.</a:t>
            </a:r>
            <a:endParaRPr lang="en-US"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1A1A1A"/>
                </a:solidFill>
              </a:rPr>
              <a:t>Gross test IR positive for all three (M3 0.51, M2 0.47, M1 0.47).</a:t>
            </a:r>
          </a:p>
          <a:p>
            <a:pPr marL="237744" indent="-237744" algn="l">
              <a:lnSpc>
                <a:spcPct val="106000"/>
              </a:lnSpc>
              <a:spcAft>
                <a:spcPts val="6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Despite various layers, we were not able to beat costs in our test set.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585057"/>
              </p:ext>
            </p:extLst>
          </p:nvPr>
        </p:nvGraphicFramePr>
        <p:xfrm>
          <a:off x="720693" y="4425332"/>
          <a:ext cx="4756081" cy="1955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Cov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IR_test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MDD</a:t>
                      </a:r>
                    </a:p>
                  </a:txBody>
                  <a:tcPr marL="64000" marR="64000" marT="18000" marB="18000" anchor="ctr"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 err="1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  <a:endParaRPr sz="10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gross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0.5127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0.0038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flat $8.5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-1.8898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0.0272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dv01_bp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-0.3132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0.0071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gross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0.4679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0.2181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flat $8.5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-3.3838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2.3554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 err="1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  <a:endParaRPr sz="10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dv01_bp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-0.4494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0.3532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gross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0.4702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0.0996</a:t>
                      </a:r>
                    </a:p>
                  </a:txBody>
                  <a:tcPr marL="64000" marR="64000" marT="14000" marB="14000" anchor="ctr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flat $8.5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-2.5473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1.5142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506"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lw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dv01_bp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-0.2545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0.1992</a:t>
                      </a:r>
                    </a:p>
                  </a:txBody>
                  <a:tcPr marL="64000" marR="64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8189D3-9AAE-1157-DD6F-D2A9517CEC3C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A38E"/>
                </a:solidFill>
                <a:latin typeface="Calibri"/>
              </a:rPr>
              <a:t>IMPERIAL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00A38E"/>
                </a:solidFill>
                <a:latin typeface="Calibri"/>
              </a:rPr>
              <a:t>BUSINESS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0" y="310896"/>
            <a:ext cx="50292" cy="548640"/>
          </a:xfrm>
          <a:prstGeom prst="rect">
            <a:avLst/>
          </a:prstGeom>
          <a:solidFill>
            <a:srgbClr val="00A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164592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0A38E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00000"/>
            <a:ext cx="11643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i="0" dirty="0">
                <a:solidFill>
                  <a:srgbClr val="002147"/>
                </a:solidFill>
                <a:latin typeface="Calibri"/>
              </a:rPr>
              <a:t>Conclusion: Limitations and Improvements</a:t>
            </a:r>
            <a:endParaRPr sz="2700" b="1" i="0" dirty="0">
              <a:solidFill>
                <a:srgbClr val="00214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02147"/>
                </a:solidFill>
                <a:latin typeface="Calibri"/>
              </a:rP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394960" cy="1478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Gross alpha is real and generalizes out-of-sample.</a:t>
            </a: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Costs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were the largest barriers to our </a:t>
            </a:r>
            <a:r>
              <a:rPr lang="en-US" sz="1400" b="0" i="0" dirty="0">
                <a:solidFill>
                  <a:srgbClr val="1A1A1A"/>
                </a:solidFill>
                <a:latin typeface="Calibri"/>
              </a:rPr>
              <a:t>strategy.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Trading less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often beats trading-smarter.</a:t>
            </a:r>
            <a:endParaRPr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More constraints ≠ better; in-sample ≠ out-of-sample — reported, not hidden.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02147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166360" cy="1935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Cash/par yields, not futures — carry &amp; roll-down omitted (the band lengthens holds).</a:t>
            </a: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Cash/par DV01, not CTD-forward; cost model ignores market impact at size.</a:t>
            </a: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r>
              <a:rPr sz="1400" b="0" i="0" dirty="0">
                <a:solidFill>
                  <a:srgbClr val="1A1A1A"/>
                </a:solidFill>
                <a:latin typeface="Calibri"/>
              </a:rPr>
              <a:t>Next: add carry + CTD DV01, a turnover penalty, and combine band + cheap hedge + regime filter.</a:t>
            </a:r>
            <a:endParaRPr lang="en-US" sz="1400" b="0" i="0" dirty="0">
              <a:solidFill>
                <a:srgbClr val="1A1A1A"/>
              </a:solidFill>
              <a:latin typeface="Calibri"/>
            </a:endParaRPr>
          </a:p>
          <a:p>
            <a:pPr marL="237744" indent="-237744" algn="l">
              <a:lnSpc>
                <a:spcPct val="106000"/>
              </a:lnSpc>
              <a:spcAft>
                <a:spcPts val="900"/>
              </a:spcAft>
              <a:buClr>
                <a:srgbClr val="00A38E"/>
              </a:buClr>
              <a:buSzPct val="70000"/>
              <a:buFont typeface="Arial"/>
              <a:buChar char="▪"/>
            </a:pPr>
            <a:endParaRPr sz="14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" y="4663440"/>
            <a:ext cx="11091672" cy="640080"/>
          </a:xfrm>
          <a:prstGeom prst="round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6000"/>
              </a:lnSpc>
              <a:spcAft>
                <a:spcPts val="300"/>
              </a:spcAft>
              <a:buNone/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The edge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seemed to exist.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T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he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important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question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is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:  How can we trade in a manner that minimizes trading costs?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ACE7A-482D-66DE-D7FA-30D762D66E82}"/>
              </a:ext>
            </a:extLst>
          </p:cNvPr>
          <p:cNvSpPr txBox="1"/>
          <p:nvPr/>
        </p:nvSpPr>
        <p:spPr>
          <a:xfrm>
            <a:off x="548640" y="6510528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666666"/>
                </a:solidFill>
                <a:latin typeface="Calibri"/>
              </a:rPr>
              <a:t>AQMS 2026  · 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Group 13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· </a:t>
            </a:r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 Running a US Treasury 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Relative-Value</a:t>
            </a:r>
            <a:r>
              <a:rPr lang="en-US" sz="1000" dirty="0">
                <a:solidFill>
                  <a:srgbClr val="666666"/>
                </a:solidFill>
              </a:rPr>
              <a:t> Based on PCA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91E98B-B583-4B3C-8FEE-98AD0F58BA0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61630fd-ef55-4c33-9e10-7722c26bc98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2873</Words>
  <Application>Microsoft Office PowerPoint</Application>
  <PresentationFormat>Widescreen</PresentationFormat>
  <Paragraphs>442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Valuation and Hedging of Crypto Binary Prediction-Market Contracts</dc:title>
  <dc:subject>Applied Project — Quantitative Analysis</dc:subject>
  <dc:creator>Imperial College Business School — MSc RMFE</dc:creator>
  <cp:lastModifiedBy>Jaehyun Jung</cp:lastModifiedBy>
  <cp:revision>9</cp:revision>
  <dcterms:created xsi:type="dcterms:W3CDTF">2026-05-05T10:06:57Z</dcterms:created>
  <dcterms:modified xsi:type="dcterms:W3CDTF">2026-06-01T12:58:43Z</dcterms:modified>
</cp:coreProperties>
</file>